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한 장이 실습 전체의 지도입니다.
위쪽 그림 — 무엇이 만들어지는가
  CloudFormation 이 VPC · EKS Auto Mode · SNS 를 한 번에 만든다 (25~35분).
  EKS 안에는 네임스페이스 세 개. ArgoCD · Gitea · 실제 앱.
  Bedrock 과 SNS 는 VPC 밖의 관리형 서비스다.
아래쪽 여섯 단계 — 어떻게 도는가
  1~2 는 GitOps. 커밋이 곧 배포이고, 그래서 장애도 커밋으로 만든다.
  3~5 가 Tool Use 의 전부다. 4번과 5번 사이가 이 강의의 핵심 경계.
  6 은 쓰기 작업이라 사람 승인을 받는다.
하단 문장에서 3초 멈출 것. DevOps 청중의 보안 우려가 여기서 풀린다.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384048"/>
            <a:ext cx="73152" cy="73152"/>
          </a:xfrm>
          <a:prstGeom prst="ellipse">
            <a:avLst/>
          </a:prstGeom>
          <a:solidFill>
            <a:srgbClr val="1E4FD8"/>
          </a:solidFill>
          <a:ln/>
        </p:spPr>
      </p:sp>
      <p:sp>
        <p:nvSpPr>
          <p:cNvPr id="3" name="Text 1"/>
          <p:cNvSpPr/>
          <p:nvPr/>
        </p:nvSpPr>
        <p:spPr>
          <a:xfrm>
            <a:off x="786384" y="310896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1E4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실습 · LLM 에이전트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241280" y="310896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/ 46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58368" y="548640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실습 아키텍처 — 내 AWS 계정에 만들어지는 것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658368" y="1243584"/>
            <a:ext cx="566928" cy="0"/>
          </a:xfrm>
          <a:prstGeom prst="line">
            <a:avLst/>
          </a:prstGeom>
          <a:noFill/>
          <a:ln w="38100">
            <a:solidFill>
              <a:srgbClr val="1E4F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1371600"/>
            <a:ext cx="10881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CloudFormation 한 번으로 전부 생성됩니다. 아래 여섯 단계가 에이전트가 도는 한 바퀴입니다.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58368" y="1810512"/>
            <a:ext cx="2267712" cy="3127248"/>
          </a:xfrm>
          <a:prstGeom prst="roundRect">
            <a:avLst>
              <a:gd name="adj" fmla="val 2419"/>
            </a:avLst>
          </a:prstGeom>
          <a:solidFill>
            <a:srgbClr val="0F1D3D"/>
          </a:solidFill>
          <a:ln w="12700">
            <a:solidFill>
              <a:srgbClr val="0F1D3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59536" y="1984248"/>
            <a:ext cx="82296" cy="82296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10" name="Shape 8"/>
          <p:cNvSpPr/>
          <p:nvPr/>
        </p:nvSpPr>
        <p:spPr>
          <a:xfrm>
            <a:off x="1005840" y="1984248"/>
            <a:ext cx="82296" cy="82296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11" name="Shape 9"/>
          <p:cNvSpPr/>
          <p:nvPr/>
        </p:nvSpPr>
        <p:spPr>
          <a:xfrm>
            <a:off x="1152144" y="1984248"/>
            <a:ext cx="82296" cy="82296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2" name="Text 10"/>
          <p:cNvSpPr/>
          <p:nvPr/>
        </p:nvSpPr>
        <p:spPr>
          <a:xfrm>
            <a:off x="1371600" y="194767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C7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내 노트북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59536" y="2249424"/>
            <a:ext cx="1865376" cy="2487168"/>
          </a:xfrm>
          <a:prstGeom prst="roundRect">
            <a:avLst>
              <a:gd name="adj" fmla="val 1961"/>
            </a:avLst>
          </a:prstGeom>
          <a:solidFill>
            <a:srgbClr val="1B2C55"/>
          </a:solidFill>
          <a:ln w="12700">
            <a:solidFill>
              <a:srgbClr val="2B3C6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24128" y="2377440"/>
            <a:ext cx="157276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E8E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deploy_lab.py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024128" y="2523744"/>
            <a:ext cx="15727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20" dirty="0">
                <a:solidFill>
                  <a:srgbClr val="7E9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인프라 생성</a:t>
            </a:r>
            <a:endParaRPr lang="en-US" sz="820" dirty="0"/>
          </a:p>
        </p:txBody>
      </p:sp>
      <p:sp>
        <p:nvSpPr>
          <p:cNvPr id="16" name="Text 14"/>
          <p:cNvSpPr/>
          <p:nvPr/>
        </p:nvSpPr>
        <p:spPr>
          <a:xfrm>
            <a:off x="1024128" y="2715768"/>
            <a:ext cx="157276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E8E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break_it.py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24128" y="2862072"/>
            <a:ext cx="15727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20" dirty="0">
                <a:solidFill>
                  <a:srgbClr val="7E9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장애 주입</a:t>
            </a:r>
            <a:endParaRPr lang="en-US" sz="820" dirty="0"/>
          </a:p>
        </p:txBody>
      </p:sp>
      <p:sp>
        <p:nvSpPr>
          <p:cNvPr id="18" name="Text 16"/>
          <p:cNvSpPr/>
          <p:nvPr/>
        </p:nvSpPr>
        <p:spPr>
          <a:xfrm>
            <a:off x="1024128" y="3054096"/>
            <a:ext cx="157276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E8E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agent.py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24128" y="3200400"/>
            <a:ext cx="15727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20" dirty="0">
                <a:solidFill>
                  <a:srgbClr val="7E9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에이전트 루프</a:t>
            </a:r>
            <a:endParaRPr lang="en-US" sz="820" dirty="0"/>
          </a:p>
        </p:txBody>
      </p:sp>
      <p:sp>
        <p:nvSpPr>
          <p:cNvPr id="20" name="Text 18"/>
          <p:cNvSpPr/>
          <p:nvPr/>
        </p:nvSpPr>
        <p:spPr>
          <a:xfrm>
            <a:off x="1024128" y="3392424"/>
            <a:ext cx="157276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E8E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tools.py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24128" y="3538728"/>
            <a:ext cx="15727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20" dirty="0">
                <a:solidFill>
                  <a:srgbClr val="7E9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도구 7개</a:t>
            </a:r>
            <a:endParaRPr lang="en-US" sz="820" dirty="0"/>
          </a:p>
        </p:txBody>
      </p:sp>
      <p:sp>
        <p:nvSpPr>
          <p:cNvPr id="22" name="Text 20"/>
          <p:cNvSpPr/>
          <p:nvPr/>
        </p:nvSpPr>
        <p:spPr>
          <a:xfrm>
            <a:off x="1024128" y="3730752"/>
            <a:ext cx="157276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E8E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k8s.py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024128" y="3877056"/>
            <a:ext cx="15727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20" dirty="0">
                <a:solidFill>
                  <a:srgbClr val="7E9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EKS 인증 · REST</a:t>
            </a:r>
            <a:endParaRPr lang="en-US" sz="820" dirty="0"/>
          </a:p>
        </p:txBody>
      </p:sp>
      <p:sp>
        <p:nvSpPr>
          <p:cNvPr id="24" name="Text 22"/>
          <p:cNvSpPr/>
          <p:nvPr/>
        </p:nvSpPr>
        <p:spPr>
          <a:xfrm>
            <a:off x="1024128" y="4069080"/>
            <a:ext cx="157276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E8E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status.py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24128" y="4215384"/>
            <a:ext cx="15727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20" dirty="0">
                <a:solidFill>
                  <a:srgbClr val="7E9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상태 확인</a:t>
            </a:r>
            <a:endParaRPr lang="en-US" sz="820" dirty="0"/>
          </a:p>
        </p:txBody>
      </p:sp>
      <p:sp>
        <p:nvSpPr>
          <p:cNvPr id="26" name="Text 24"/>
          <p:cNvSpPr/>
          <p:nvPr/>
        </p:nvSpPr>
        <p:spPr>
          <a:xfrm>
            <a:off x="1024128" y="4407408"/>
            <a:ext cx="157276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E8E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cleanup.py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24128" y="4553712"/>
            <a:ext cx="15727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20" dirty="0">
                <a:solidFill>
                  <a:srgbClr val="7E9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전부 삭제</a:t>
            </a:r>
            <a:endParaRPr lang="en-US" sz="820" dirty="0"/>
          </a:p>
        </p:txBody>
      </p:sp>
      <p:sp>
        <p:nvSpPr>
          <p:cNvPr id="28" name="Shape 26"/>
          <p:cNvSpPr/>
          <p:nvPr/>
        </p:nvSpPr>
        <p:spPr>
          <a:xfrm>
            <a:off x="3346704" y="1737360"/>
            <a:ext cx="8193024" cy="3273552"/>
          </a:xfrm>
          <a:prstGeom prst="roundRect">
            <a:avLst>
              <a:gd name="adj" fmla="val 559"/>
            </a:avLst>
          </a:prstGeom>
          <a:solidFill>
            <a:srgbClr val="FFFFFF"/>
          </a:solidFill>
          <a:ln w="15875">
            <a:solidFill>
              <a:srgbClr val="9AA7C4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3529584" y="1801368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50" b="1" dirty="0">
                <a:solidFill>
                  <a:srgbClr val="5B6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계정  ·  ap-northeast-2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547872" y="2066544"/>
            <a:ext cx="7772400" cy="512064"/>
          </a:xfrm>
          <a:prstGeom prst="roundRect">
            <a:avLst>
              <a:gd name="adj" fmla="val 7143"/>
            </a:avLst>
          </a:prstGeom>
          <a:solidFill>
            <a:srgbClr val="FCEEF4"/>
          </a:solidFill>
          <a:ln w="12700">
            <a:solidFill>
              <a:srgbClr val="F0C8D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694176" y="2148840"/>
            <a:ext cx="347472" cy="347472"/>
          </a:xfrm>
          <a:prstGeom prst="roundRect">
            <a:avLst>
              <a:gd name="adj" fmla="val 28947"/>
            </a:avLst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94176" y="21488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2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102" dirty="0"/>
          </a:p>
        </p:txBody>
      </p:sp>
      <p:sp>
        <p:nvSpPr>
          <p:cNvPr id="33" name="Text 31"/>
          <p:cNvSpPr/>
          <p:nvPr/>
        </p:nvSpPr>
        <p:spPr>
          <a:xfrm>
            <a:off x="4151376" y="214884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8E1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CloudFormation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151376" y="2350008"/>
            <a:ext cx="4206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20" dirty="0">
                <a:solidFill>
                  <a:srgbClr val="A856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VPC · EKS · SNS 를 한 번에 생성하고 한 번에 삭제</a:t>
            </a:r>
            <a:endParaRPr lang="en-US" sz="920" dirty="0"/>
          </a:p>
        </p:txBody>
      </p:sp>
      <p:sp>
        <p:nvSpPr>
          <p:cNvPr id="35" name="Text 33"/>
          <p:cNvSpPr/>
          <p:nvPr/>
        </p:nvSpPr>
        <p:spPr>
          <a:xfrm>
            <a:off x="8686800" y="2231136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8E12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deploy_lab.py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3547872" y="2688336"/>
            <a:ext cx="4956048" cy="2194560"/>
          </a:xfrm>
          <a:prstGeom prst="roundRect">
            <a:avLst>
              <a:gd name="adj" fmla="val 1250"/>
            </a:avLst>
          </a:prstGeom>
          <a:solidFill>
            <a:srgbClr val="FAF8FF"/>
          </a:solidFill>
          <a:ln w="12700">
            <a:solidFill>
              <a:srgbClr val="C9B6F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675888" y="2761488"/>
            <a:ext cx="237744" cy="237744"/>
          </a:xfrm>
          <a:prstGeom prst="roundRect">
            <a:avLst>
              <a:gd name="adj" fmla="val 42308"/>
            </a:avLst>
          </a:prstGeom>
          <a:solidFill>
            <a:srgbClr val="7C4DFF"/>
          </a:solidFill>
          <a:ln w="12700">
            <a:solidFill>
              <a:srgbClr val="7C4D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675888" y="276148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4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endParaRPr lang="en-US" sz="754" dirty="0"/>
          </a:p>
        </p:txBody>
      </p:sp>
      <p:sp>
        <p:nvSpPr>
          <p:cNvPr id="39" name="Text 37"/>
          <p:cNvSpPr/>
          <p:nvPr/>
        </p:nvSpPr>
        <p:spPr>
          <a:xfrm>
            <a:off x="3986784" y="2779776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00" b="1" dirty="0">
                <a:solidFill>
                  <a:srgbClr val="5B3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VPC   10.42.0.0/16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3712464" y="3054096"/>
            <a:ext cx="4626864" cy="1737360"/>
          </a:xfrm>
          <a:prstGeom prst="roundRect">
            <a:avLst>
              <a:gd name="adj" fmla="val 2105"/>
            </a:avLst>
          </a:prstGeom>
          <a:solidFill>
            <a:srgbClr val="FFF7F0"/>
          </a:solidFill>
          <a:ln w="12700">
            <a:solidFill>
              <a:srgbClr val="F5D3B4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840480" y="3136392"/>
            <a:ext cx="292608" cy="292608"/>
          </a:xfrm>
          <a:prstGeom prst="roundRect">
            <a:avLst>
              <a:gd name="adj" fmla="val 34375"/>
            </a:avLst>
          </a:prstGeom>
          <a:solidFill>
            <a:srgbClr val="ED7100"/>
          </a:solidFill>
          <a:ln w="12700">
            <a:solidFill>
              <a:srgbClr val="ED710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840480" y="31363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endParaRPr lang="en-US" sz="928" dirty="0"/>
          </a:p>
        </p:txBody>
      </p:sp>
      <p:sp>
        <p:nvSpPr>
          <p:cNvPr id="43" name="Text 41"/>
          <p:cNvSpPr/>
          <p:nvPr/>
        </p:nvSpPr>
        <p:spPr>
          <a:xfrm>
            <a:off x="4224528" y="3127248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9A4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EKS Auto Mode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4224528" y="3328416"/>
            <a:ext cx="3840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B87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노드 자동 프로비저닝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3840480" y="3529584"/>
            <a:ext cx="4370832" cy="384048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E6D5C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941064" y="3621024"/>
            <a:ext cx="731520" cy="201168"/>
          </a:xfrm>
          <a:prstGeom prst="roundRect">
            <a:avLst>
              <a:gd name="adj" fmla="val 22727"/>
            </a:avLst>
          </a:prstGeom>
          <a:solidFill>
            <a:srgbClr val="1F6FEB"/>
          </a:solidFill>
          <a:ln/>
        </p:spPr>
      </p:sp>
      <p:sp>
        <p:nvSpPr>
          <p:cNvPr id="47" name="Text 45"/>
          <p:cNvSpPr/>
          <p:nvPr/>
        </p:nvSpPr>
        <p:spPr>
          <a:xfrm>
            <a:off x="3941064" y="3621024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argocd</a:t>
            </a:r>
            <a:endParaRPr lang="en-US" sz="700" dirty="0"/>
          </a:p>
        </p:txBody>
      </p:sp>
      <p:sp>
        <p:nvSpPr>
          <p:cNvPr id="48" name="Text 46"/>
          <p:cNvSpPr/>
          <p:nvPr/>
        </p:nvSpPr>
        <p:spPr>
          <a:xfrm>
            <a:off x="4791456" y="359359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ArgoCD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5943600" y="3611880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4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을 감시해 클러스터에 적용</a:t>
            </a:r>
            <a:endParaRPr lang="en-US" sz="840" dirty="0"/>
          </a:p>
        </p:txBody>
      </p:sp>
      <p:sp>
        <p:nvSpPr>
          <p:cNvPr id="50" name="Shape 48"/>
          <p:cNvSpPr/>
          <p:nvPr/>
        </p:nvSpPr>
        <p:spPr>
          <a:xfrm>
            <a:off x="3840480" y="3968496"/>
            <a:ext cx="4370832" cy="384048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E6D5C2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3941064" y="4059936"/>
            <a:ext cx="731520" cy="201168"/>
          </a:xfrm>
          <a:prstGeom prst="roundRect">
            <a:avLst>
              <a:gd name="adj" fmla="val 22727"/>
            </a:avLst>
          </a:prstGeom>
          <a:solidFill>
            <a:srgbClr val="2E7D32"/>
          </a:solidFill>
          <a:ln/>
        </p:spPr>
      </p:sp>
      <p:sp>
        <p:nvSpPr>
          <p:cNvPr id="52" name="Text 50"/>
          <p:cNvSpPr/>
          <p:nvPr/>
        </p:nvSpPr>
        <p:spPr>
          <a:xfrm>
            <a:off x="3941064" y="4059936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</a:t>
            </a:r>
            <a:endParaRPr lang="en-US" sz="700" dirty="0"/>
          </a:p>
        </p:txBody>
      </p:sp>
      <p:sp>
        <p:nvSpPr>
          <p:cNvPr id="53" name="Text 51"/>
          <p:cNvSpPr/>
          <p:nvPr/>
        </p:nvSpPr>
        <p:spPr>
          <a:xfrm>
            <a:off x="4791456" y="4032504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Gitea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5943600" y="4050792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4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앱 매니페스트 저장소 · REST API</a:t>
            </a:r>
            <a:endParaRPr lang="en-US" sz="840" dirty="0"/>
          </a:p>
        </p:txBody>
      </p:sp>
      <p:sp>
        <p:nvSpPr>
          <p:cNvPr id="55" name="Shape 53"/>
          <p:cNvSpPr/>
          <p:nvPr/>
        </p:nvSpPr>
        <p:spPr>
          <a:xfrm>
            <a:off x="3840480" y="4407408"/>
            <a:ext cx="4370832" cy="384048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E6D5C2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3941064" y="4498848"/>
            <a:ext cx="731520" cy="201168"/>
          </a:xfrm>
          <a:prstGeom prst="roundRect">
            <a:avLst>
              <a:gd name="adj" fmla="val 22727"/>
            </a:avLst>
          </a:prstGeom>
          <a:solidFill>
            <a:srgbClr val="C2185B"/>
          </a:solidFill>
          <a:ln/>
        </p:spPr>
      </p:sp>
      <p:sp>
        <p:nvSpPr>
          <p:cNvPr id="57" name="Text 55"/>
          <p:cNvSpPr/>
          <p:nvPr/>
        </p:nvSpPr>
        <p:spPr>
          <a:xfrm>
            <a:off x="3941064" y="4498848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kdt-dev</a:t>
            </a:r>
            <a:endParaRPr lang="en-US" sz="700" dirty="0"/>
          </a:p>
        </p:txBody>
      </p:sp>
      <p:sp>
        <p:nvSpPr>
          <p:cNvPr id="58" name="Text 56"/>
          <p:cNvSpPr/>
          <p:nvPr/>
        </p:nvSpPr>
        <p:spPr>
          <a:xfrm>
            <a:off x="4791456" y="4471416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kdt-dev-api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5943600" y="4489704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4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실제 앱 — nginx ×2</a:t>
            </a:r>
            <a:endParaRPr lang="en-US" sz="840" dirty="0"/>
          </a:p>
        </p:txBody>
      </p:sp>
      <p:sp>
        <p:nvSpPr>
          <p:cNvPr id="60" name="Shape 58"/>
          <p:cNvSpPr/>
          <p:nvPr/>
        </p:nvSpPr>
        <p:spPr>
          <a:xfrm>
            <a:off x="8275320" y="3703320"/>
            <a:ext cx="0" cy="786384"/>
          </a:xfrm>
          <a:prstGeom prst="line">
            <a:avLst/>
          </a:prstGeom>
          <a:noFill/>
          <a:ln w="22860">
            <a:solidFill>
              <a:srgbClr val="1F6FEB"/>
            </a:solidFill>
            <a:prstDash val="dash"/>
            <a:tailEnd type="triangle"/>
          </a:ln>
        </p:spPr>
      </p:sp>
      <p:sp>
        <p:nvSpPr>
          <p:cNvPr id="61" name="Text 59"/>
          <p:cNvSpPr/>
          <p:nvPr/>
        </p:nvSpPr>
        <p:spPr>
          <a:xfrm>
            <a:off x="8211312" y="3950208"/>
            <a:ext cx="310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600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600" dirty="0"/>
          </a:p>
          <a:p>
            <a:pPr algn="ctr" indent="0" marL="0">
              <a:lnSpc>
                <a:spcPts val="700"/>
              </a:lnSpc>
              <a:buNone/>
            </a:pPr>
            <a:r>
              <a:rPr lang="en-US" sz="600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600" dirty="0"/>
          </a:p>
          <a:p>
            <a:pPr algn="ctr" indent="0" marL="0">
              <a:lnSpc>
                <a:spcPts val="700"/>
              </a:lnSpc>
              <a:buNone/>
            </a:pPr>
            <a:r>
              <a:rPr lang="en-US" sz="600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600" dirty="0"/>
          </a:p>
          <a:p>
            <a:pPr algn="ctr" indent="0" marL="0">
              <a:lnSpc>
                <a:spcPts val="700"/>
              </a:lnSpc>
              <a:buNone/>
            </a:pPr>
            <a:r>
              <a:rPr lang="en-US" sz="600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endParaRPr lang="en-US" sz="600" dirty="0"/>
          </a:p>
          <a:p>
            <a:pPr algn="ctr" indent="0" marL="0">
              <a:lnSpc>
                <a:spcPts val="700"/>
              </a:lnSpc>
              <a:buNone/>
            </a:pPr>
            <a:r>
              <a:rPr lang="en-US" sz="600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600" dirty="0"/>
          </a:p>
          <a:p>
            <a:pPr algn="ctr" indent="0" marL="0">
              <a:lnSpc>
                <a:spcPts val="700"/>
              </a:lnSpc>
              <a:buNone/>
            </a:pPr>
            <a:r>
              <a:rPr lang="en-US" sz="600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600" dirty="0"/>
          </a:p>
        </p:txBody>
      </p:sp>
      <p:sp>
        <p:nvSpPr>
          <p:cNvPr id="62" name="Shape 60"/>
          <p:cNvSpPr/>
          <p:nvPr/>
        </p:nvSpPr>
        <p:spPr>
          <a:xfrm>
            <a:off x="8796528" y="2688336"/>
            <a:ext cx="2523744" cy="1042416"/>
          </a:xfrm>
          <a:prstGeom prst="roundRect">
            <a:avLst>
              <a:gd name="adj" fmla="val 3509"/>
            </a:avLst>
          </a:prstGeom>
          <a:solidFill>
            <a:srgbClr val="EEFBF8"/>
          </a:solidFill>
          <a:ln w="12700">
            <a:solidFill>
              <a:srgbClr val="B8E8DF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8961120" y="2798064"/>
            <a:ext cx="347472" cy="347472"/>
          </a:xfrm>
          <a:prstGeom prst="roundRect">
            <a:avLst>
              <a:gd name="adj" fmla="val 28947"/>
            </a:avLst>
          </a:prstGeom>
          <a:solidFill>
            <a:srgbClr val="01A88D"/>
          </a:solidFill>
          <a:ln w="12700">
            <a:solidFill>
              <a:srgbClr val="01A88D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8961120" y="279806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2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102" dirty="0"/>
          </a:p>
        </p:txBody>
      </p:sp>
      <p:sp>
        <p:nvSpPr>
          <p:cNvPr id="65" name="Text 63"/>
          <p:cNvSpPr/>
          <p:nvPr/>
        </p:nvSpPr>
        <p:spPr>
          <a:xfrm>
            <a:off x="9418320" y="281635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Bedrock</a:t>
            </a:r>
            <a:endParaRPr lang="en-US" sz="1200" dirty="0"/>
          </a:p>
        </p:txBody>
      </p:sp>
      <p:sp>
        <p:nvSpPr>
          <p:cNvPr id="66" name="Text 64"/>
          <p:cNvSpPr/>
          <p:nvPr/>
        </p:nvSpPr>
        <p:spPr>
          <a:xfrm>
            <a:off x="8961120" y="3200400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60" dirty="0">
                <a:solidFill>
                  <a:srgbClr val="0089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 Haiku 4.5</a:t>
            </a:r>
            <a:endParaRPr lang="en-US" sz="860" dirty="0"/>
          </a:p>
        </p:txBody>
      </p:sp>
      <p:sp>
        <p:nvSpPr>
          <p:cNvPr id="67" name="Text 65"/>
          <p:cNvSpPr/>
          <p:nvPr/>
        </p:nvSpPr>
        <p:spPr>
          <a:xfrm>
            <a:off x="8961120" y="3383280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60" dirty="0">
                <a:solidFill>
                  <a:srgbClr val="4DB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Converse API · Tool Use</a:t>
            </a:r>
            <a:endParaRPr lang="en-US" sz="860" dirty="0"/>
          </a:p>
        </p:txBody>
      </p:sp>
      <p:sp>
        <p:nvSpPr>
          <p:cNvPr id="68" name="Shape 66"/>
          <p:cNvSpPr/>
          <p:nvPr/>
        </p:nvSpPr>
        <p:spPr>
          <a:xfrm>
            <a:off x="8796528" y="3840480"/>
            <a:ext cx="2523744" cy="1042416"/>
          </a:xfrm>
          <a:prstGeom prst="roundRect">
            <a:avLst>
              <a:gd name="adj" fmla="val 3509"/>
            </a:avLst>
          </a:prstGeom>
          <a:solidFill>
            <a:srgbClr val="FDEEF3"/>
          </a:solidFill>
          <a:ln w="12700">
            <a:solidFill>
              <a:srgbClr val="F4C6D6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8961120" y="3950208"/>
            <a:ext cx="347472" cy="347472"/>
          </a:xfrm>
          <a:prstGeom prst="roundRect">
            <a:avLst>
              <a:gd name="adj" fmla="val 28947"/>
            </a:avLst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8961120" y="39502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2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endParaRPr lang="en-US" sz="1102" dirty="0"/>
          </a:p>
        </p:txBody>
      </p:sp>
      <p:sp>
        <p:nvSpPr>
          <p:cNvPr id="71" name="Text 69"/>
          <p:cNvSpPr/>
          <p:nvPr/>
        </p:nvSpPr>
        <p:spPr>
          <a:xfrm>
            <a:off x="9418320" y="3968496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SNS</a:t>
            </a:r>
            <a:endParaRPr lang="en-US" sz="1200" dirty="0"/>
          </a:p>
        </p:txBody>
      </p:sp>
      <p:sp>
        <p:nvSpPr>
          <p:cNvPr id="72" name="Text 70"/>
          <p:cNvSpPr/>
          <p:nvPr/>
        </p:nvSpPr>
        <p:spPr>
          <a:xfrm>
            <a:off x="8961120" y="4352544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60" dirty="0">
                <a:solidFill>
                  <a:srgbClr val="D633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진단 리포트 발송</a:t>
            </a:r>
            <a:endParaRPr lang="en-US" sz="860" dirty="0"/>
          </a:p>
        </p:txBody>
      </p:sp>
      <p:sp>
        <p:nvSpPr>
          <p:cNvPr id="73" name="Text 71"/>
          <p:cNvSpPr/>
          <p:nvPr/>
        </p:nvSpPr>
        <p:spPr>
          <a:xfrm>
            <a:off x="8961120" y="4535424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60" dirty="0">
                <a:solidFill>
                  <a:srgbClr val="E09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담당자 이메일</a:t>
            </a:r>
            <a:endParaRPr lang="en-US" sz="860" dirty="0"/>
          </a:p>
        </p:txBody>
      </p:sp>
      <p:sp>
        <p:nvSpPr>
          <p:cNvPr id="74" name="Shape 72"/>
          <p:cNvSpPr/>
          <p:nvPr/>
        </p:nvSpPr>
        <p:spPr>
          <a:xfrm>
            <a:off x="2962656" y="2322576"/>
            <a:ext cx="530352" cy="0"/>
          </a:xfrm>
          <a:prstGeom prst="line">
            <a:avLst/>
          </a:prstGeom>
          <a:noFill/>
          <a:ln w="22860">
            <a:solidFill>
              <a:srgbClr val="C2185B"/>
            </a:solidFill>
            <a:prstDash val="solid"/>
            <a:tailEnd type="triangle"/>
          </a:ln>
        </p:spPr>
      </p:sp>
      <p:sp>
        <p:nvSpPr>
          <p:cNvPr id="75" name="Shape 73"/>
          <p:cNvSpPr/>
          <p:nvPr/>
        </p:nvSpPr>
        <p:spPr>
          <a:xfrm>
            <a:off x="2962656" y="3749040"/>
            <a:ext cx="530352" cy="0"/>
          </a:xfrm>
          <a:prstGeom prst="line">
            <a:avLst/>
          </a:prstGeom>
          <a:noFill/>
          <a:ln w="22860">
            <a:solidFill>
              <a:srgbClr val="ED7100"/>
            </a:solidFill>
            <a:prstDash val="solid"/>
            <a:tailEnd type="triangle"/>
          </a:ln>
        </p:spPr>
      </p:sp>
      <p:sp>
        <p:nvSpPr>
          <p:cNvPr id="76" name="Shape 74"/>
          <p:cNvSpPr/>
          <p:nvPr/>
        </p:nvSpPr>
        <p:spPr>
          <a:xfrm>
            <a:off x="658368" y="5193792"/>
            <a:ext cx="1737360" cy="694944"/>
          </a:xfrm>
          <a:prstGeom prst="roundRect">
            <a:avLst>
              <a:gd name="adj" fmla="val 5263"/>
            </a:avLst>
          </a:prstGeom>
          <a:solidFill>
            <a:srgbClr val="F6F8FC"/>
          </a:solidFill>
          <a:ln w="12700">
            <a:solidFill>
              <a:srgbClr val="DFE5F0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786384" y="5294376"/>
            <a:ext cx="237744" cy="237744"/>
          </a:xfrm>
          <a:prstGeom prst="ellipse">
            <a:avLst/>
          </a:prstGeom>
          <a:solidFill>
            <a:srgbClr val="ED7100"/>
          </a:solidFill>
          <a:ln/>
        </p:spPr>
      </p:sp>
      <p:sp>
        <p:nvSpPr>
          <p:cNvPr id="78" name="Text 76"/>
          <p:cNvSpPr/>
          <p:nvPr/>
        </p:nvSpPr>
        <p:spPr>
          <a:xfrm>
            <a:off x="786384" y="529437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50" dirty="0"/>
          </a:p>
        </p:txBody>
      </p:sp>
      <p:sp>
        <p:nvSpPr>
          <p:cNvPr id="79" name="Text 77"/>
          <p:cNvSpPr/>
          <p:nvPr/>
        </p:nvSpPr>
        <p:spPr>
          <a:xfrm>
            <a:off x="1097280" y="530352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6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장애 주입</a:t>
            </a:r>
            <a:endParaRPr lang="en-US" sz="960" dirty="0"/>
          </a:p>
        </p:txBody>
      </p:sp>
      <p:sp>
        <p:nvSpPr>
          <p:cNvPr id="80" name="Text 78"/>
          <p:cNvSpPr/>
          <p:nvPr/>
        </p:nvSpPr>
        <p:spPr>
          <a:xfrm>
            <a:off x="786384" y="5559552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81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매니페스트를 Gitea 에 실제 커밋</a:t>
            </a:r>
            <a:endParaRPr lang="en-US" sz="810" dirty="0"/>
          </a:p>
        </p:txBody>
      </p:sp>
      <p:sp>
        <p:nvSpPr>
          <p:cNvPr id="81" name="Shape 79"/>
          <p:cNvSpPr/>
          <p:nvPr/>
        </p:nvSpPr>
        <p:spPr>
          <a:xfrm>
            <a:off x="2414016" y="5541264"/>
            <a:ext cx="146304" cy="0"/>
          </a:xfrm>
          <a:prstGeom prst="line">
            <a:avLst/>
          </a:prstGeom>
          <a:noFill/>
          <a:ln w="22860">
            <a:solidFill>
              <a:srgbClr val="9AA7C4"/>
            </a:solidFill>
            <a:prstDash val="solid"/>
            <a:tailEnd type="triangle"/>
          </a:ln>
        </p:spPr>
      </p:sp>
      <p:sp>
        <p:nvSpPr>
          <p:cNvPr id="82" name="Shape 80"/>
          <p:cNvSpPr/>
          <p:nvPr/>
        </p:nvSpPr>
        <p:spPr>
          <a:xfrm>
            <a:off x="2578608" y="5193792"/>
            <a:ext cx="1737360" cy="694944"/>
          </a:xfrm>
          <a:prstGeom prst="roundRect">
            <a:avLst>
              <a:gd name="adj" fmla="val 5263"/>
            </a:avLst>
          </a:prstGeom>
          <a:solidFill>
            <a:srgbClr val="F6F8FC"/>
          </a:solidFill>
          <a:ln w="12700">
            <a:solidFill>
              <a:srgbClr val="DFE5F0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2706624" y="5294376"/>
            <a:ext cx="237744" cy="237744"/>
          </a:xfrm>
          <a:prstGeom prst="ellipse">
            <a:avLst/>
          </a:prstGeom>
          <a:solidFill>
            <a:srgbClr val="1F6FEB"/>
          </a:solidFill>
          <a:ln/>
        </p:spPr>
      </p:sp>
      <p:sp>
        <p:nvSpPr>
          <p:cNvPr id="84" name="Text 82"/>
          <p:cNvSpPr/>
          <p:nvPr/>
        </p:nvSpPr>
        <p:spPr>
          <a:xfrm>
            <a:off x="2706624" y="529437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50" dirty="0"/>
          </a:p>
        </p:txBody>
      </p:sp>
      <p:sp>
        <p:nvSpPr>
          <p:cNvPr id="85" name="Text 83"/>
          <p:cNvSpPr/>
          <p:nvPr/>
        </p:nvSpPr>
        <p:spPr>
          <a:xfrm>
            <a:off x="3017520" y="530352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6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ArgoCD 적용</a:t>
            </a:r>
            <a:endParaRPr lang="en-US" sz="960" dirty="0"/>
          </a:p>
        </p:txBody>
      </p:sp>
      <p:sp>
        <p:nvSpPr>
          <p:cNvPr id="86" name="Text 84"/>
          <p:cNvSpPr/>
          <p:nvPr/>
        </p:nvSpPr>
        <p:spPr>
          <a:xfrm>
            <a:off x="2706624" y="5559552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81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30초 안에 동기화 → pod 가 진짜로 죽음</a:t>
            </a:r>
            <a:endParaRPr lang="en-US" sz="810" dirty="0"/>
          </a:p>
        </p:txBody>
      </p:sp>
      <p:sp>
        <p:nvSpPr>
          <p:cNvPr id="87" name="Shape 85"/>
          <p:cNvSpPr/>
          <p:nvPr/>
        </p:nvSpPr>
        <p:spPr>
          <a:xfrm>
            <a:off x="4334256" y="5541264"/>
            <a:ext cx="146304" cy="0"/>
          </a:xfrm>
          <a:prstGeom prst="line">
            <a:avLst/>
          </a:prstGeom>
          <a:noFill/>
          <a:ln w="22860">
            <a:solidFill>
              <a:srgbClr val="9AA7C4"/>
            </a:solidFill>
            <a:prstDash val="solid"/>
            <a:tailEnd type="triangle"/>
          </a:ln>
        </p:spPr>
      </p:sp>
      <p:sp>
        <p:nvSpPr>
          <p:cNvPr id="88" name="Shape 86"/>
          <p:cNvSpPr/>
          <p:nvPr/>
        </p:nvSpPr>
        <p:spPr>
          <a:xfrm>
            <a:off x="4498848" y="5193792"/>
            <a:ext cx="1737360" cy="694944"/>
          </a:xfrm>
          <a:prstGeom prst="roundRect">
            <a:avLst>
              <a:gd name="adj" fmla="val 5263"/>
            </a:avLst>
          </a:prstGeom>
          <a:solidFill>
            <a:srgbClr val="F6F8FC"/>
          </a:solidFill>
          <a:ln w="12700">
            <a:solidFill>
              <a:srgbClr val="DFE5F0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4626864" y="5294376"/>
            <a:ext cx="237744" cy="237744"/>
          </a:xfrm>
          <a:prstGeom prst="ellipse">
            <a:avLst/>
          </a:prstGeom>
          <a:solidFill>
            <a:srgbClr val="01A88D"/>
          </a:solidFill>
          <a:ln/>
        </p:spPr>
      </p:sp>
      <p:sp>
        <p:nvSpPr>
          <p:cNvPr id="90" name="Text 88"/>
          <p:cNvSpPr/>
          <p:nvPr/>
        </p:nvSpPr>
        <p:spPr>
          <a:xfrm>
            <a:off x="4626864" y="529437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50" dirty="0"/>
          </a:p>
        </p:txBody>
      </p:sp>
      <p:sp>
        <p:nvSpPr>
          <p:cNvPr id="91" name="Text 89"/>
          <p:cNvSpPr/>
          <p:nvPr/>
        </p:nvSpPr>
        <p:spPr>
          <a:xfrm>
            <a:off x="4937760" y="530352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6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대화 전송</a:t>
            </a:r>
            <a:endParaRPr lang="en-US" sz="960" dirty="0"/>
          </a:p>
        </p:txBody>
      </p:sp>
      <p:sp>
        <p:nvSpPr>
          <p:cNvPr id="92" name="Text 90"/>
          <p:cNvSpPr/>
          <p:nvPr/>
        </p:nvSpPr>
        <p:spPr>
          <a:xfrm>
            <a:off x="4626864" y="5559552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81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도구 목록 + 대화를 Bedrock 에</a:t>
            </a:r>
            <a:endParaRPr lang="en-US" sz="810" dirty="0"/>
          </a:p>
        </p:txBody>
      </p:sp>
      <p:sp>
        <p:nvSpPr>
          <p:cNvPr id="93" name="Shape 91"/>
          <p:cNvSpPr/>
          <p:nvPr/>
        </p:nvSpPr>
        <p:spPr>
          <a:xfrm>
            <a:off x="6254496" y="5541264"/>
            <a:ext cx="146304" cy="0"/>
          </a:xfrm>
          <a:prstGeom prst="line">
            <a:avLst/>
          </a:prstGeom>
          <a:noFill/>
          <a:ln w="22860">
            <a:solidFill>
              <a:srgbClr val="9AA7C4"/>
            </a:solidFill>
            <a:prstDash val="solid"/>
            <a:tailEnd type="triangle"/>
          </a:ln>
        </p:spPr>
      </p:sp>
      <p:sp>
        <p:nvSpPr>
          <p:cNvPr id="94" name="Shape 92"/>
          <p:cNvSpPr/>
          <p:nvPr/>
        </p:nvSpPr>
        <p:spPr>
          <a:xfrm>
            <a:off x="6419088" y="5193792"/>
            <a:ext cx="1737360" cy="694944"/>
          </a:xfrm>
          <a:prstGeom prst="roundRect">
            <a:avLst>
              <a:gd name="adj" fmla="val 5263"/>
            </a:avLst>
          </a:prstGeom>
          <a:solidFill>
            <a:srgbClr val="F6F8FC"/>
          </a:solidFill>
          <a:ln w="12700">
            <a:solidFill>
              <a:srgbClr val="DFE5F0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6547104" y="5294376"/>
            <a:ext cx="237744" cy="237744"/>
          </a:xfrm>
          <a:prstGeom prst="ellipse">
            <a:avLst/>
          </a:prstGeom>
          <a:solidFill>
            <a:srgbClr val="01A88D"/>
          </a:solidFill>
          <a:ln/>
        </p:spPr>
      </p:sp>
      <p:sp>
        <p:nvSpPr>
          <p:cNvPr id="96" name="Text 94"/>
          <p:cNvSpPr/>
          <p:nvPr/>
        </p:nvSpPr>
        <p:spPr>
          <a:xfrm>
            <a:off x="6547104" y="529437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50" dirty="0"/>
          </a:p>
        </p:txBody>
      </p:sp>
      <p:sp>
        <p:nvSpPr>
          <p:cNvPr id="97" name="Text 95"/>
          <p:cNvSpPr/>
          <p:nvPr/>
        </p:nvSpPr>
        <p:spPr>
          <a:xfrm>
            <a:off x="6858000" y="530352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6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도구 호출 요청</a:t>
            </a:r>
            <a:endParaRPr lang="en-US" sz="960" dirty="0"/>
          </a:p>
        </p:txBody>
      </p:sp>
      <p:sp>
        <p:nvSpPr>
          <p:cNvPr id="98" name="Text 96"/>
          <p:cNvSpPr/>
          <p:nvPr/>
        </p:nvSpPr>
        <p:spPr>
          <a:xfrm>
            <a:off x="6547104" y="5559552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81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모델은 “불러줘”라고 말만 함</a:t>
            </a:r>
            <a:endParaRPr lang="en-US" sz="810" dirty="0"/>
          </a:p>
        </p:txBody>
      </p:sp>
      <p:sp>
        <p:nvSpPr>
          <p:cNvPr id="99" name="Shape 97"/>
          <p:cNvSpPr/>
          <p:nvPr/>
        </p:nvSpPr>
        <p:spPr>
          <a:xfrm>
            <a:off x="8174736" y="5541264"/>
            <a:ext cx="146304" cy="0"/>
          </a:xfrm>
          <a:prstGeom prst="line">
            <a:avLst/>
          </a:prstGeom>
          <a:noFill/>
          <a:ln w="22860">
            <a:solidFill>
              <a:srgbClr val="9AA7C4"/>
            </a:solidFill>
            <a:prstDash val="solid"/>
            <a:tailEnd type="triangle"/>
          </a:ln>
        </p:spPr>
      </p:sp>
      <p:sp>
        <p:nvSpPr>
          <p:cNvPr id="100" name="Shape 98"/>
          <p:cNvSpPr/>
          <p:nvPr/>
        </p:nvSpPr>
        <p:spPr>
          <a:xfrm>
            <a:off x="8339328" y="5193792"/>
            <a:ext cx="1737360" cy="694944"/>
          </a:xfrm>
          <a:prstGeom prst="roundRect">
            <a:avLst>
              <a:gd name="adj" fmla="val 5263"/>
            </a:avLst>
          </a:prstGeom>
          <a:solidFill>
            <a:srgbClr val="F6F8FC"/>
          </a:solidFill>
          <a:ln w="12700">
            <a:solidFill>
              <a:srgbClr val="DFE5F0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8467344" y="5294376"/>
            <a:ext cx="237744" cy="237744"/>
          </a:xfrm>
          <a:prstGeom prst="ellipse">
            <a:avLst/>
          </a:prstGeom>
          <a:solidFill>
            <a:srgbClr val="ED7100"/>
          </a:solidFill>
          <a:ln/>
        </p:spPr>
      </p:sp>
      <p:sp>
        <p:nvSpPr>
          <p:cNvPr id="102" name="Text 100"/>
          <p:cNvSpPr/>
          <p:nvPr/>
        </p:nvSpPr>
        <p:spPr>
          <a:xfrm>
            <a:off x="8467344" y="529437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50" dirty="0"/>
          </a:p>
        </p:txBody>
      </p:sp>
      <p:sp>
        <p:nvSpPr>
          <p:cNvPr id="103" name="Text 101"/>
          <p:cNvSpPr/>
          <p:nvPr/>
        </p:nvSpPr>
        <p:spPr>
          <a:xfrm>
            <a:off x="8778240" y="530352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6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실제 API 호출</a:t>
            </a:r>
            <a:endParaRPr lang="en-US" sz="960" dirty="0"/>
          </a:p>
        </p:txBody>
      </p:sp>
      <p:sp>
        <p:nvSpPr>
          <p:cNvPr id="104" name="Text 102"/>
          <p:cNvSpPr/>
          <p:nvPr/>
        </p:nvSpPr>
        <p:spPr>
          <a:xfrm>
            <a:off x="8467344" y="5559552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81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K8s · Git — 내 코드가 실행</a:t>
            </a:r>
            <a:endParaRPr lang="en-US" sz="810" dirty="0"/>
          </a:p>
        </p:txBody>
      </p:sp>
      <p:sp>
        <p:nvSpPr>
          <p:cNvPr id="105" name="Shape 103"/>
          <p:cNvSpPr/>
          <p:nvPr/>
        </p:nvSpPr>
        <p:spPr>
          <a:xfrm>
            <a:off x="10094976" y="5541264"/>
            <a:ext cx="146304" cy="0"/>
          </a:xfrm>
          <a:prstGeom prst="line">
            <a:avLst/>
          </a:prstGeom>
          <a:noFill/>
          <a:ln w="22860">
            <a:solidFill>
              <a:srgbClr val="9AA7C4"/>
            </a:solidFill>
            <a:prstDash val="solid"/>
            <a:tailEnd type="triangle"/>
          </a:ln>
        </p:spPr>
      </p:sp>
      <p:sp>
        <p:nvSpPr>
          <p:cNvPr id="106" name="Shape 104"/>
          <p:cNvSpPr/>
          <p:nvPr/>
        </p:nvSpPr>
        <p:spPr>
          <a:xfrm>
            <a:off x="10259568" y="5193792"/>
            <a:ext cx="1737360" cy="694944"/>
          </a:xfrm>
          <a:prstGeom prst="roundRect">
            <a:avLst>
              <a:gd name="adj" fmla="val 5263"/>
            </a:avLst>
          </a:prstGeom>
          <a:solidFill>
            <a:srgbClr val="F6F8FC"/>
          </a:solidFill>
          <a:ln w="12700">
            <a:solidFill>
              <a:srgbClr val="DFE5F0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10387584" y="5294376"/>
            <a:ext cx="237744" cy="237744"/>
          </a:xfrm>
          <a:prstGeom prst="ellipse">
            <a:avLst/>
          </a:prstGeom>
          <a:solidFill>
            <a:srgbClr val="D6336C"/>
          </a:solidFill>
          <a:ln/>
        </p:spPr>
      </p:sp>
      <p:sp>
        <p:nvSpPr>
          <p:cNvPr id="108" name="Text 106"/>
          <p:cNvSpPr/>
          <p:nvPr/>
        </p:nvSpPr>
        <p:spPr>
          <a:xfrm>
            <a:off x="10387584" y="529437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50" dirty="0"/>
          </a:p>
        </p:txBody>
      </p:sp>
      <p:sp>
        <p:nvSpPr>
          <p:cNvPr id="109" name="Text 107"/>
          <p:cNvSpPr/>
          <p:nvPr/>
        </p:nvSpPr>
        <p:spPr>
          <a:xfrm>
            <a:off x="10698480" y="530352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6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리포트 발송</a:t>
            </a:r>
            <a:endParaRPr lang="en-US" sz="960" dirty="0"/>
          </a:p>
        </p:txBody>
      </p:sp>
      <p:sp>
        <p:nvSpPr>
          <p:cNvPr id="110" name="Text 108"/>
          <p:cNvSpPr/>
          <p:nvPr/>
        </p:nvSpPr>
        <p:spPr>
          <a:xfrm>
            <a:off x="10387584" y="5559552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81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SNS → 이메일 · 사람 승인 필요</a:t>
            </a:r>
            <a:endParaRPr lang="en-US" sz="810" dirty="0"/>
          </a:p>
        </p:txBody>
      </p:sp>
      <p:sp>
        <p:nvSpPr>
          <p:cNvPr id="111" name="Shape 109"/>
          <p:cNvSpPr/>
          <p:nvPr/>
        </p:nvSpPr>
        <p:spPr>
          <a:xfrm>
            <a:off x="658368" y="6053328"/>
            <a:ext cx="10881360" cy="548640"/>
          </a:xfrm>
          <a:prstGeom prst="roundRect">
            <a:avLst>
              <a:gd name="adj" fmla="val 8333"/>
            </a:avLst>
          </a:prstGeom>
          <a:solidFill>
            <a:srgbClr val="17265B"/>
          </a:solidFill>
          <a:ln w="12700">
            <a:solidFill>
              <a:srgbClr val="17265B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960120" y="605332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은 클러스터에 접속하지 않습니다. 도구를 불러달라고 요청할 뿐이고, 실제 호출과 자격증명은 내 코드가 쥡니다.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2026-07-29T18:25:08Z</dcterms:created>
  <dcterms:modified xsi:type="dcterms:W3CDTF">2026-07-29T18:25:08Z</dcterms:modified>
</cp:coreProperties>
</file>